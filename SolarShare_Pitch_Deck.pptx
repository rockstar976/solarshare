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27432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27432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27432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27432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0" y="109728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0" y="109728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109728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95760" y="109728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0" y="192024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0" y="192024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20" y="192024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0" y="192024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0" y="274320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69680" y="274320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6960" y="274320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64240" y="274320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0" y="356616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0" y="356616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98480" y="356616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795760" y="356616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38160" y="438912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5440" y="438912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2720" y="438912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30000" y="438912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0" y="521208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69680" y="521208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0" y="521208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064240" y="521208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03920" y="603504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01200" y="603504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98480" y="603504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795760" y="6035040"/>
            <a:ext cx="54864" cy="54864"/>
          </a:xfrm>
          <a:prstGeom prst="ellipse">
            <a:avLst/>
          </a:prstGeom>
          <a:solidFill>
            <a:srgbClr val="2A2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SOLARSHARE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2423160"/>
            <a:ext cx="22860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E8EC"/>
                </a:solidFill>
                <a:latin typeface="Segoe UI"/>
              </a:defRPr>
            </a:pPr>
            <a:r>
              <a:t>Peer-to-peer solar energy trading</a:t>
            </a:r>
            <a:br/>
            <a:r>
              <a:t>for India's housing societies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Segoe UI"/>
              </a:defRPr>
            </a:pPr>
            <a:r>
              <a:t>Built on India Energy Stack  |  Beckn Protocol  |  Zero Infrastructure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7280" y="4754880"/>
            <a:ext cx="2377440" cy="155448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7280" y="4754880"/>
            <a:ext cx="23774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50 Lakh+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623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Rooftop solar</a:t>
            </a:r>
            <a:br/>
            <a:r>
              <a:t>households (2026)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49039" y="4754880"/>
            <a:ext cx="2377440" cy="155448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49039" y="4754880"/>
            <a:ext cx="237744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39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  <a:latin typeface="Segoe UI"/>
              </a:defRPr>
            </a:pPr>
            <a:r>
              <a:t>Rs.421 Cr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5623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Earned by 12L homes</a:t>
            </a:r>
            <a:br/>
            <a:r>
              <a:t>selling surplus (FY25)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4754880"/>
            <a:ext cx="2377440" cy="155448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0" y="4754880"/>
            <a:ext cx="23774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150 GW+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623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India's total</a:t>
            </a:r>
            <a:br/>
            <a:r>
              <a:t>solar capacity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52560" y="4754880"/>
            <a:ext cx="2377440" cy="155448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2560" y="4754880"/>
            <a:ext cx="237744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4B8A6"/>
                </a:solidFill>
                <a:latin typeface="Segoe UI"/>
              </a:defRPr>
            </a:pPr>
            <a:r>
              <a:t>Rs.0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5623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Cost to build</a:t>
            </a:r>
            <a:br/>
            <a:r>
              <a:t>hackathon MVP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1737360"/>
            <a:ext cx="3017520" cy="45720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Energy &amp; Sustainability  |  Ideathon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Solar surplus is wasted. Neighbors overpay.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4114800" cy="82296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8E8EC"/>
                </a:solidFill>
                <a:latin typeface="Segoe UI"/>
              </a:defRPr>
            </a:pPr>
            <a:r>
              <a:t>Solar Home  —  generates surplus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2926080"/>
            <a:ext cx="0" cy="36576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0896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Sold at LOW feed-in tariff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291840"/>
            <a:ext cx="3200400" cy="731520"/>
          </a:xfrm>
          <a:prstGeom prst="roundRect">
            <a:avLst/>
          </a:prstGeom>
          <a:solidFill>
            <a:srgbClr val="3A1515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DISCOM  (middleman)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4023360"/>
            <a:ext cx="0" cy="36576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0896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Resold at FULL retail tariff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4114800" cy="82296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8E8EC"/>
                </a:solidFill>
                <a:latin typeface="Segoe UI"/>
              </a:defRPr>
            </a:pPr>
            <a:r>
              <a:t>Non-Solar Neighbor  —  pays full 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Same society. Same grid line. Unfair deal for both.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WITH SOLARSHARE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5029200" cy="82296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8E8EC"/>
                </a:solidFill>
                <a:latin typeface="Segoe UI"/>
              </a:defRPr>
            </a:pPr>
            <a:r>
              <a:t>Solar Home  —  lists surplus on app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15400" y="2926080"/>
            <a:ext cx="0" cy="146304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89520" y="3291840"/>
            <a:ext cx="2651760" cy="82296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SolarShare matches trade</a:t>
            </a:r>
            <a:br/>
            <a:r>
              <a:t>Better price for BOTH sides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389120"/>
            <a:ext cx="5029200" cy="82296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8E8EC"/>
                </a:solidFill>
                <a:latin typeface="Segoe UI"/>
              </a:defRPr>
            </a:pPr>
            <a:r>
              <a:t>Neighbor  —  buys cheaper, greener energy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486400"/>
            <a:ext cx="2377440" cy="548640"/>
          </a:xfrm>
          <a:prstGeom prst="roundRect">
            <a:avLst/>
          </a:prstGeom>
          <a:solidFill>
            <a:srgbClr val="0A2A12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Seller: +20-30% above feed-in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5486400"/>
            <a:ext cx="2377440" cy="548640"/>
          </a:xfrm>
          <a:prstGeom prst="roundRect">
            <a:avLst/>
          </a:prstGeom>
          <a:solidFill>
            <a:srgbClr val="0A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Buyer: -10-15% below retail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828800"/>
            <a:ext cx="12700" cy="438912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We build the app layer. Government builds everything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Segoe UI"/>
              </a:defRPr>
            </a:pPr>
            <a:r>
              <a:t>INDIA ENERGY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5303520" cy="658368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Prosumers  |  Buyers  |  RWA Admins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5303520" cy="658368"/>
          </a:xfrm>
          <a:prstGeom prst="roundRect">
            <a:avLst/>
          </a:prstGeom>
          <a:solidFill>
            <a:srgbClr val="33281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SolarShare (BAP)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OUR APP  —  What we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0439"/>
            <a:ext cx="5303520" cy="658368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5661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UEI / Beckn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Govt open network (like ONDC for energy)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97679"/>
            <a:ext cx="5303520" cy="658368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3433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DISCOM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1771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Smart meter data  |  Billing  |  Settlement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5303520" cy="658368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55566"/>
                </a:solidFill>
                <a:latin typeface="Segoe UI"/>
              </a:defRPr>
            </a:pPr>
            <a:r>
              <a:t>Physical Grid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94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Smart meters (7.24 Cr)  |  Solar panels  |  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WE BUILD</a:t>
            </a:r>
            <a:br/>
            <a:r>
              <a:t>THIS ONLY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263640" y="2834640"/>
            <a:ext cx="13716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Segoe UI"/>
              </a:defRPr>
            </a:pPr>
            <a:r>
              <a:t>TRADE FLOW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617220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6172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Panel generates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7440" y="6327648"/>
            <a:ext cx="91440" cy="0"/>
          </a:xfrm>
          <a:prstGeom prst="line">
            <a:avLst/>
          </a:prstGeom>
          <a:ln w="12700">
            <a:solidFill>
              <a:srgbClr val="55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468880" y="6172200"/>
            <a:ext cx="320040" cy="3200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2928" y="6172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Meter records export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31920" y="6327648"/>
            <a:ext cx="91440" cy="0"/>
          </a:xfrm>
          <a:prstGeom prst="line">
            <a:avLst/>
          </a:prstGeom>
          <a:ln w="12700">
            <a:solidFill>
              <a:srgbClr val="55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023360" y="617220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6172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App queries surplus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0" y="6327648"/>
            <a:ext cx="91440" cy="0"/>
          </a:xfrm>
          <a:prstGeom prst="line">
            <a:avLst/>
          </a:prstGeom>
          <a:ln w="12700">
            <a:solidFill>
              <a:srgbClr val="55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577840" y="6172200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6172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Buyer confirms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40880" y="6327648"/>
            <a:ext cx="91440" cy="0"/>
          </a:xfrm>
          <a:prstGeom prst="line">
            <a:avLst/>
          </a:prstGeom>
          <a:ln w="12700">
            <a:solidFill>
              <a:srgbClr val="55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132320" y="617220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8" y="6172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Hash logged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95360" y="6327648"/>
            <a:ext cx="91440" cy="0"/>
          </a:xfrm>
          <a:prstGeom prst="line">
            <a:avLst/>
          </a:prstGeom>
          <a:ln w="12700">
            <a:solidFill>
              <a:srgbClr val="55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8686800" y="617220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0848" y="6172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Payment settled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149840" y="6327648"/>
            <a:ext cx="91440" cy="0"/>
          </a:xfrm>
          <a:prstGeom prst="line">
            <a:avLst/>
          </a:prstGeom>
          <a:ln w="12700">
            <a:solidFill>
              <a:srgbClr val="55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241280" y="617220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25328" y="6172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Segoe UI"/>
              </a:defRPr>
            </a:pPr>
            <a:r>
              <a:t>Bill adjusted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45" name="Oval 44"/>
          <p:cNvSpPr/>
          <p:nvPr/>
        </p:nvSpPr>
        <p:spPr>
          <a:xfrm>
            <a:off x="6400800" y="3794759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React Native / Flutter</a:t>
            </a:r>
          </a:p>
        </p:txBody>
      </p:sp>
      <p:sp>
        <p:nvSpPr>
          <p:cNvPr id="48" name="Oval 47"/>
          <p:cNvSpPr/>
          <p:nvPr/>
        </p:nvSpPr>
        <p:spPr>
          <a:xfrm>
            <a:off x="6400800" y="4233672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4187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187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Node.js / FastAPI</a:t>
            </a:r>
          </a:p>
        </p:txBody>
      </p:sp>
      <p:sp>
        <p:nvSpPr>
          <p:cNvPr id="51" name="Oval 50"/>
          <p:cNvSpPr/>
          <p:nvPr/>
        </p:nvSpPr>
        <p:spPr>
          <a:xfrm>
            <a:off x="6400800" y="4672584"/>
            <a:ext cx="228600" cy="2286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0" y="4626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626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PostgreSQL / Firebase</a:t>
            </a:r>
          </a:p>
        </p:txBody>
      </p:sp>
      <p:sp>
        <p:nvSpPr>
          <p:cNvPr id="54" name="Oval 53"/>
          <p:cNvSpPr/>
          <p:nvPr/>
        </p:nvSpPr>
        <p:spPr>
          <a:xfrm>
            <a:off x="6400800" y="5111495"/>
            <a:ext cx="2286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0" y="506577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Segoe UI"/>
              </a:defRPr>
            </a:pPr>
            <a:r>
              <a:t>Ledger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06577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SHA-256 hashed records</a:t>
            </a:r>
          </a:p>
        </p:txBody>
      </p:sp>
      <p:sp>
        <p:nvSpPr>
          <p:cNvPr id="57" name="Oval 56"/>
          <p:cNvSpPr/>
          <p:nvPr/>
        </p:nvSpPr>
        <p:spPr>
          <a:xfrm>
            <a:off x="6400800" y="5550408"/>
            <a:ext cx="228600" cy="228600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66560" y="5504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Segoe UI"/>
              </a:defRPr>
            </a:pPr>
            <a:r>
              <a:t>Hosting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5504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Firebase / Vercel (free)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MARKET &amp; GOVERNMENT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Real policy. Real infrastructure. Real money.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Segoe UI"/>
              </a:defRPr>
            </a:pPr>
            <a:r>
              <a:t>MARKET SIZING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5029200" cy="420624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B37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C"/>
                </a:solidFill>
                <a:latin typeface="Segoe UI"/>
              </a:defRPr>
            </a:pPr>
            <a:r>
              <a:t>1 Crore households  (PM Surya Ghar target)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834640"/>
            <a:ext cx="4297680" cy="3017520"/>
          </a:xfrm>
          <a:prstGeom prst="roundRect">
            <a:avLst/>
          </a:prstGeom>
          <a:solidFill>
            <a:srgbClr val="2A2A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C"/>
                </a:solidFill>
                <a:latin typeface="Segoe UI"/>
              </a:defRPr>
            </a:pPr>
            <a:r>
              <a:t>1.25 Crore consumers  (Delhi + UP pilot zones)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931920"/>
            <a:ext cx="3566160" cy="1828800"/>
          </a:xfrm>
          <a:prstGeom prst="roundRect">
            <a:avLst/>
          </a:prstGeom>
          <a:solidFill>
            <a:srgbClr val="182A18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SOM  (Year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297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8EC"/>
                </a:solidFill>
                <a:latin typeface="Segoe UI"/>
              </a:defRPr>
            </a:pPr>
            <a:r>
              <a:t>100s to 1000s of households</a:t>
            </a:r>
            <a:br/>
            <a:r>
              <a:t>in a few housing societies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Global P2P energy trading:</a:t>
            </a:r>
            <a:br/>
            <a:r>
              <a:t>$556M (2024) -&gt; $10.4B by 2034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Segoe UI"/>
              </a:defRPr>
            </a:pPr>
            <a:r>
              <a:t>GOVERNMENT TIMELINE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210312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48856" y="2304288"/>
            <a:ext cx="25400" cy="77724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993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240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PM Surya Ghar launched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45059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3L+ installations/month, Rs.28K Cr subsidies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306324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48856" y="3264408"/>
            <a:ext cx="25400" cy="77724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953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Feb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004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IES demo to Prime Minister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41071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India Energy Stack goes live, Beckn Protocol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4023360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48856" y="4224528"/>
            <a:ext cx="25400" cy="77724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913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Feb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1605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DERC / UPERC pilot approved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3708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6-month P2P trading pilot, Delhi + Western UP</a:t>
            </a:r>
          </a:p>
        </p:txBody>
      </p:sp>
      <p:sp>
        <p:nvSpPr>
          <p:cNvPr id="32" name="Oval 31"/>
          <p:cNvSpPr/>
          <p:nvPr/>
        </p:nvSpPr>
        <p:spPr>
          <a:xfrm>
            <a:off x="6766560" y="4983480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48856" y="5184648"/>
            <a:ext cx="25400" cy="77724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4873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Jul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1206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50 Lakh households crossed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3309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7.24 Cr smart meters installed nationally</a:t>
            </a:r>
          </a:p>
        </p:txBody>
      </p:sp>
      <p:sp>
        <p:nvSpPr>
          <p:cNvPr id="37" name="Oval 36"/>
          <p:cNvSpPr/>
          <p:nvPr/>
        </p:nvSpPr>
        <p:spPr>
          <a:xfrm>
            <a:off x="6766560" y="594360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5833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Aug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6080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SolarShare enters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62910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First-mover in housing society segment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BUSINESS MODEL &amp;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Multiple revenue streams. Uncontested niche.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Segoe UI"/>
              </a:defRPr>
            </a:pPr>
            <a:r>
              <a:t>REVENUE STREAMS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5029200" cy="96012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10972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Transaction 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0428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Commission on every P2P trade</a:t>
            </a:r>
            <a:br/>
            <a:r>
              <a:t>(Rs.0.42/kWh reference)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5029200" cy="96012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3017520"/>
            <a:ext cx="109728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SaaS to RWAs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015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Monthly subscription for society</a:t>
            </a:r>
            <a:br/>
            <a:r>
              <a:t>admins — dashboard &amp;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5029200" cy="96012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114800"/>
            <a:ext cx="109728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Carbon Credits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988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CO2 offset tracking &amp; green</a:t>
            </a:r>
            <a:br/>
            <a:r>
              <a:t>certificate monetization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212079"/>
            <a:ext cx="5029200" cy="96012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212079"/>
            <a:ext cx="109728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303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Segoe UI"/>
              </a:defRPr>
            </a:pPr>
            <a:r>
              <a:t>Data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596127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Segoe UI"/>
              </a:defRPr>
            </a:pPr>
            <a:r>
              <a:t>Anonymized consumption data</a:t>
            </a:r>
            <a:br/>
            <a:r>
              <a:t>for DISCOMs &amp; policy makers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99"/>
                </a:solidFill>
                <a:latin typeface="Segoe UI"/>
              </a:defRPr>
            </a:pPr>
            <a:r>
              <a:t>WHY SOLARSHARE WINS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1920240"/>
            <a:ext cx="4846320" cy="91440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99339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55566"/>
                </a:solidFill>
                <a:latin typeface="Segoe UI"/>
              </a:defRPr>
            </a:pPr>
            <a:r>
              <a:t>Pulse Energy / SUPEREV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2402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First IES TPP — but targets</a:t>
            </a:r>
            <a:br/>
            <a:r>
              <a:t>EV charging users, not</a:t>
            </a:r>
            <a:br/>
            <a:r>
              <a:t>housing societies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971800"/>
            <a:ext cx="4846320" cy="91440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04495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55566"/>
                </a:solidFill>
                <a:latin typeface="Segoe UI"/>
              </a:defRPr>
            </a:pPr>
            <a:r>
              <a:t>Power Ledger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918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Global P2P pioneer — but</a:t>
            </a:r>
            <a:br/>
            <a:r>
              <a:t>not India-focused at</a:t>
            </a:r>
            <a:br/>
            <a:r>
              <a:t>residential level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4023360"/>
            <a:ext cx="4846320" cy="91440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09651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DISCOM Net Metering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343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Default status quo — worst</a:t>
            </a:r>
            <a:br/>
            <a:r>
              <a:t>rates for sellers, no</a:t>
            </a:r>
            <a:br/>
            <a:r>
              <a:t>choice for buyers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5166360"/>
            <a:ext cx="4846320" cy="1371600"/>
          </a:xfrm>
          <a:prstGeom prst="roundRect">
            <a:avLst/>
          </a:prstGeom>
          <a:solidFill>
            <a:srgbClr val="221A0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257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SOLARSHARE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5778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Housing-society-first  —  uncontested niche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RWA onboarding  —  solves cold-start trust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Asset-light  —  100% software, Rs.0 hardware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From hackathon demo to national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06040"/>
            <a:ext cx="10515600" cy="38100"/>
          </a:xfrm>
          <a:prstGeom prst="rect">
            <a:avLst/>
          </a:prstGeom>
          <a:solidFill>
            <a:srgbClr val="B37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46888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Hackathon</a:t>
            </a:r>
            <a:br/>
            <a:r>
              <a:t>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1 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2011680" cy="228600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Segoe UI"/>
              </a:defRPr>
            </a:pPr>
            <a:r>
              <a:t>3 core screens</a:t>
            </a:r>
            <a:br/>
            <a:r>
              <a:t>Simulated data</a:t>
            </a:r>
            <a:br/>
            <a:r>
              <a:t>SHA-256 ledger</a:t>
            </a:r>
            <a:br/>
            <a:r>
              <a:t>Live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623560"/>
            <a:ext cx="12801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Rs.0</a:t>
            </a:r>
          </a:p>
        </p:txBody>
      </p:sp>
      <p:sp>
        <p:nvSpPr>
          <p:cNvPr id="13" name="Oval 12"/>
          <p:cNvSpPr/>
          <p:nvPr/>
        </p:nvSpPr>
        <p:spPr>
          <a:xfrm>
            <a:off x="3703320" y="2468880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Single-Society</a:t>
            </a:r>
            <a:br/>
            <a: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Month 1-3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200400"/>
            <a:ext cx="2011680" cy="228600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33832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Segoe UI"/>
              </a:defRPr>
            </a:pPr>
            <a:r>
              <a:t>1 RWA partner</a:t>
            </a:r>
            <a:br/>
            <a:r>
              <a:t>50-200 homes</a:t>
            </a:r>
            <a:br/>
            <a:r>
              <a:t>Manual readings</a:t>
            </a:r>
            <a:br/>
            <a:r>
              <a:t>WhatsApp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5623560"/>
            <a:ext cx="128016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Rs.0-2L</a:t>
            </a:r>
          </a:p>
        </p:txBody>
      </p:sp>
      <p:sp>
        <p:nvSpPr>
          <p:cNvPr id="20" name="Oval 19"/>
          <p:cNvSpPr/>
          <p:nvPr/>
        </p:nvSpPr>
        <p:spPr>
          <a:xfrm>
            <a:off x="5897880" y="2468880"/>
            <a:ext cx="274320" cy="2743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Technical</a:t>
            </a:r>
            <a:br/>
            <a:r>
              <a:t>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Month 3-6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200400"/>
            <a:ext cx="2011680" cy="228600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33832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Segoe UI"/>
              </a:defRPr>
            </a:pPr>
            <a:r>
              <a:t>BAP registration</a:t>
            </a:r>
            <a:br/>
            <a:r>
              <a:t>Real meter feed</a:t>
            </a:r>
            <a:br/>
            <a:r>
              <a:t>Escrow payments</a:t>
            </a:r>
            <a:br/>
            <a:r>
              <a:t>Blockchain option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5623560"/>
            <a:ext cx="128016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7" name="Oval 26"/>
          <p:cNvSpPr/>
          <p:nvPr/>
        </p:nvSpPr>
        <p:spPr>
          <a:xfrm>
            <a:off x="8092439" y="2468880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9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9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Multi-Society</a:t>
            </a:r>
            <a:br/>
            <a:r>
              <a:t>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9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Month 6-12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199" y="3200400"/>
            <a:ext cx="2011680" cy="228600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33832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Segoe UI"/>
              </a:defRPr>
            </a:pPr>
            <a:r>
              <a:t>5+ societies</a:t>
            </a:r>
            <a:br/>
            <a:r>
              <a:t>AI forecasting</a:t>
            </a:r>
            <a:br/>
            <a:r>
              <a:t>Carbon credits</a:t>
            </a:r>
            <a:br/>
            <a:r>
              <a:t>Multi-state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59" y="5623560"/>
            <a:ext cx="128016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34" name="Oval 33"/>
          <p:cNvSpPr/>
          <p:nvPr/>
        </p:nvSpPr>
        <p:spPr>
          <a:xfrm>
            <a:off x="10287000" y="246888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1645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Platform</a:t>
            </a:r>
            <a:br/>
            <a:r>
              <a:t>Maturity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Segoe UI"/>
              </a:defRPr>
            </a:pPr>
            <a:r>
              <a:t>Year 2+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60" y="3200400"/>
            <a:ext cx="2011680" cy="2286000"/>
          </a:xfrm>
          <a:prstGeom prst="roundRect">
            <a:avLst/>
          </a:prstGeom>
          <a:solidFill>
            <a:srgbClr val="2222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33832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C"/>
                </a:solidFill>
                <a:latin typeface="Segoe UI"/>
              </a:defRPr>
            </a:pPr>
            <a:r>
              <a:t>VPP partnerships</a:t>
            </a:r>
            <a:br/>
            <a:r>
              <a:t>EV charging</a:t>
            </a:r>
            <a:br/>
            <a:r>
              <a:t>Interstate trade</a:t>
            </a:r>
            <a:br/>
            <a:r>
              <a:t>National scale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5623560"/>
            <a:ext cx="12801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Scale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6217920"/>
            <a:ext cx="10332720" cy="45720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88899"/>
                </a:solidFill>
                <a:latin typeface="Segoe UI"/>
              </a:defRPr>
            </a:pPr>
            <a:r>
              <a:t>Done = Judges complete a full mock trade in the live demo without guidance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SOLARSHARE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2148840"/>
            <a:ext cx="22860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8EC"/>
                </a:solidFill>
                <a:latin typeface="Segoe UI"/>
              </a:defRPr>
            </a:pPr>
            <a:r>
              <a:t>Making every rooftop a power station.</a:t>
            </a:r>
            <a:br/>
            <a:r>
              <a:t>Making every neighbor a customer.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2651760" cy="201168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265176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Real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12L households already</a:t>
            </a:r>
            <a:br/>
            <a:r>
              <a:t>earn from solar surplus</a:t>
            </a:r>
            <a:br/>
            <a:r>
              <a:t>— but at unfair rates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3657600"/>
            <a:ext cx="2651760" cy="201168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3657600"/>
            <a:ext cx="265176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Real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206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IES, Beckn, DERC pilot</a:t>
            </a:r>
            <a:br/>
            <a:r>
              <a:t>smart meters — all live</a:t>
            </a:r>
            <a:br/>
            <a:r>
              <a:t>and government-backed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657600"/>
            <a:ext cx="2651760" cy="201168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3657600"/>
            <a:ext cx="26517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Real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06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Only 1 TPP exists and</a:t>
            </a:r>
            <a:br/>
            <a:r>
              <a:t>targets EV, not housing</a:t>
            </a:r>
            <a:br/>
            <a:r>
              <a:t>societies — wide open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3657600"/>
            <a:ext cx="2651760" cy="2011680"/>
          </a:xfrm>
          <a:prstGeom prst="round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72600" y="3657600"/>
            <a:ext cx="265176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3840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B8A6"/>
                </a:solidFill>
                <a:latin typeface="Segoe UI"/>
              </a:defRPr>
            </a:pPr>
            <a:r>
              <a:t>Zero Cost MVP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4206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Segoe UI"/>
              </a:defRPr>
            </a:pPr>
            <a:r>
              <a:t>Standard student stack</a:t>
            </a:r>
            <a:br/>
            <a:r>
              <a:t>free-tier hosting</a:t>
            </a:r>
            <a:br/>
            <a:r>
              <a:t>no hardware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12648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Thank You  |  Let's Power India's Energy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