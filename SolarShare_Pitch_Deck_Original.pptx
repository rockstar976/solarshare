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274320"/>
            <a:ext cx="45720" cy="45720"/>
          </a:xfrm>
          <a:prstGeom prst="ellipse">
            <a:avLst/>
          </a:prstGeom>
          <a:solidFill>
            <a:srgbClr val="28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65792" y="274320"/>
            <a:ext cx="45720" cy="45720"/>
          </a:xfrm>
          <a:prstGeom prst="ellipse">
            <a:avLst/>
          </a:prstGeom>
          <a:solidFill>
            <a:srgbClr val="28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01984" y="274320"/>
            <a:ext cx="45720" cy="45720"/>
          </a:xfrm>
          <a:prstGeom prst="ellipse">
            <a:avLst/>
          </a:prstGeom>
          <a:solidFill>
            <a:srgbClr val="28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81744" y="777240"/>
            <a:ext cx="45720" cy="45720"/>
          </a:xfrm>
          <a:prstGeom prst="ellipse">
            <a:avLst/>
          </a:prstGeom>
          <a:solidFill>
            <a:srgbClr val="28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17936" y="777240"/>
            <a:ext cx="45720" cy="45720"/>
          </a:xfrm>
          <a:prstGeom prst="ellipse">
            <a:avLst/>
          </a:prstGeom>
          <a:solidFill>
            <a:srgbClr val="28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97696" y="1280160"/>
            <a:ext cx="45720" cy="45720"/>
          </a:xfrm>
          <a:prstGeom prst="ellipse">
            <a:avLst/>
          </a:prstGeom>
          <a:solidFill>
            <a:srgbClr val="28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33888" y="1280160"/>
            <a:ext cx="45720" cy="45720"/>
          </a:xfrm>
          <a:prstGeom prst="ellipse">
            <a:avLst/>
          </a:prstGeom>
          <a:solidFill>
            <a:srgbClr val="28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13648" y="1783080"/>
            <a:ext cx="45720" cy="45720"/>
          </a:xfrm>
          <a:prstGeom prst="ellipse">
            <a:avLst/>
          </a:prstGeom>
          <a:solidFill>
            <a:srgbClr val="28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49840" y="1783080"/>
            <a:ext cx="45720" cy="45720"/>
          </a:xfrm>
          <a:prstGeom prst="ellipse">
            <a:avLst/>
          </a:prstGeom>
          <a:solidFill>
            <a:srgbClr val="28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686032" y="1783080"/>
            <a:ext cx="45720" cy="45720"/>
          </a:xfrm>
          <a:prstGeom prst="ellipse">
            <a:avLst/>
          </a:prstGeom>
          <a:solidFill>
            <a:srgbClr val="28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0" y="2286000"/>
            <a:ext cx="45720" cy="45720"/>
          </a:xfrm>
          <a:prstGeom prst="ellipse">
            <a:avLst/>
          </a:prstGeom>
          <a:solidFill>
            <a:srgbClr val="28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65792" y="2286000"/>
            <a:ext cx="45720" cy="45720"/>
          </a:xfrm>
          <a:prstGeom prst="ellipse">
            <a:avLst/>
          </a:prstGeom>
          <a:solidFill>
            <a:srgbClr val="28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01984" y="2286000"/>
            <a:ext cx="45720" cy="45720"/>
          </a:xfrm>
          <a:prstGeom prst="ellipse">
            <a:avLst/>
          </a:prstGeom>
          <a:solidFill>
            <a:srgbClr val="28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81744" y="2788920"/>
            <a:ext cx="45720" cy="45720"/>
          </a:xfrm>
          <a:prstGeom prst="ellipse">
            <a:avLst/>
          </a:prstGeom>
          <a:solidFill>
            <a:srgbClr val="28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17936" y="2788920"/>
            <a:ext cx="45720" cy="45720"/>
          </a:xfrm>
          <a:prstGeom prst="ellipse">
            <a:avLst/>
          </a:prstGeom>
          <a:solidFill>
            <a:srgbClr val="28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97696" y="3291840"/>
            <a:ext cx="45720" cy="45720"/>
          </a:xfrm>
          <a:prstGeom prst="ellipse">
            <a:avLst/>
          </a:prstGeom>
          <a:solidFill>
            <a:srgbClr val="28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33888" y="3291840"/>
            <a:ext cx="45720" cy="45720"/>
          </a:xfrm>
          <a:prstGeom prst="ellipse">
            <a:avLst/>
          </a:prstGeom>
          <a:solidFill>
            <a:srgbClr val="28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0" b="1">
                <a:solidFill>
                  <a:srgbClr val="FFFFFF"/>
                </a:solidFill>
                <a:latin typeface="Segoe UI"/>
              </a:defRPr>
            </a:pPr>
            <a:r>
              <a:t>SOLARSHARE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2057400"/>
            <a:ext cx="20116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2377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0E0E8"/>
                </a:solidFill>
                <a:latin typeface="Segoe UI"/>
              </a:defRPr>
            </a:pPr>
            <a:r>
              <a:t>Peer-to-peer solar energy trading</a:t>
            </a:r>
            <a:br/>
            <a:r>
              <a:t>for India's housing societies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90"/>
                </a:solidFill>
                <a:latin typeface="Segoe UI"/>
              </a:defRPr>
            </a:pPr>
            <a:r>
              <a:t>Built on India Energy Stack  |  Beckn Protocol  |  Zero Hardware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1371600"/>
            <a:ext cx="3200400" cy="411480"/>
          </a:xfrm>
          <a:prstGeom prst="roundRect">
            <a:avLst/>
          </a:prstGeom>
          <a:solidFill>
            <a:srgbClr val="20202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Energy &amp; Sustainability  |  Pre-Ideathon 2026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206240"/>
            <a:ext cx="2286000" cy="1371600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206240"/>
            <a:ext cx="2286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3434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Segoe UI"/>
              </a:defRPr>
            </a:pPr>
            <a:r>
              <a:t>50 Lakh+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983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90"/>
                </a:solidFill>
                <a:latin typeface="Segoe UI"/>
              </a:defRPr>
            </a:pPr>
            <a:r>
              <a:t>Solar households</a:t>
            </a:r>
            <a:br/>
            <a:r>
              <a:t>(PM Surya Ghar, Jul 2026)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0" y="4206240"/>
            <a:ext cx="2286000" cy="1371600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91840" y="4206240"/>
            <a:ext cx="22860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0" y="43434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C55E"/>
                </a:solidFill>
                <a:latin typeface="Segoe UI"/>
              </a:defRPr>
            </a:pPr>
            <a:r>
              <a:t>Rs.421 Cr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4983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90"/>
                </a:solidFill>
                <a:latin typeface="Segoe UI"/>
              </a:defRPr>
            </a:pPr>
            <a:r>
              <a:t>Earned by 12L homes</a:t>
            </a:r>
            <a:br/>
            <a:r>
              <a:t>selling surplus (FY25)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52160" y="4206240"/>
            <a:ext cx="2286000" cy="1371600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52160" y="420624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43434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7.24 Cr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4983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90"/>
                </a:solidFill>
                <a:latin typeface="Segoe UI"/>
              </a:defRPr>
            </a:pPr>
            <a:r>
              <a:t>Smart meters</a:t>
            </a:r>
            <a:br/>
            <a:r>
              <a:t>already installed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80" y="4206240"/>
            <a:ext cx="2286000" cy="1371600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12480" y="4206240"/>
            <a:ext cx="22860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43434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4B8A6"/>
                </a:solidFill>
                <a:latin typeface="Segoe UI"/>
              </a:defRPr>
            </a:pPr>
            <a:r>
              <a:t>Rs.0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983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90"/>
                </a:solidFill>
                <a:latin typeface="Segoe UI"/>
              </a:defRPr>
            </a:pPr>
            <a:r>
              <a:t>Our hackathon</a:t>
            </a:r>
            <a:br/>
            <a:r>
              <a:t>MVP cost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943600"/>
            <a:ext cx="10698480" cy="502920"/>
          </a:xfrm>
          <a:prstGeom prst="roundRect">
            <a:avLst/>
          </a:prstGeom>
          <a:solidFill>
            <a:srgbClr val="202028"/>
          </a:solidFill>
          <a:ln w="19050">
            <a:solidFill>
              <a:srgbClr val="50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505060"/>
                </a:solidFill>
                <a:latin typeface="Segoe UI"/>
              </a:defRPr>
            </a:pPr>
            <a:r>
              <a:t>Evaluated on: Problem (10) + Innovation (15) + Feasibility (10) + Impact (10) + USP (15) + Revenue &amp; Business (25) + Presentation (15) = 100 Marks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060"/>
                </a:solidFill>
                <a:latin typeface="Segoe UI"/>
              </a:defRPr>
            </a:pPr>
            <a: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PROBLEM UNDERSTANDING &amp; RELEVANCE  |  10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Problem &amp; Who Faces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Segoe UI"/>
              </a:defRPr>
            </a:pPr>
            <a:r>
              <a:t>TODAY'S BROKEN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840480" cy="640080"/>
          </a:xfrm>
          <a:prstGeom prst="roundRect">
            <a:avLst/>
          </a:prstGeom>
          <a:solidFill>
            <a:srgbClr val="20202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0E8"/>
                </a:solidFill>
                <a:latin typeface="Segoe UI"/>
              </a:defRPr>
            </a:pPr>
            <a:r>
              <a:t>Solar Home  --  surplus goes to DISCOM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51760" y="2468880"/>
            <a:ext cx="0" cy="365760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0" y="2468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Low feed-in tariff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2834640"/>
            <a:ext cx="2926080" cy="548640"/>
          </a:xfrm>
          <a:prstGeom prst="roundRect">
            <a:avLst/>
          </a:prstGeom>
          <a:solidFill>
            <a:srgbClr val="301515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DISCOM (middleman)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3383280"/>
            <a:ext cx="0" cy="365759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0" y="3383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Full retail tariff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3840480" cy="640080"/>
          </a:xfrm>
          <a:prstGeom prst="roundRect">
            <a:avLst/>
          </a:prstGeom>
          <a:solidFill>
            <a:srgbClr val="2020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0E8"/>
                </a:solidFill>
                <a:latin typeface="Segoe UI"/>
              </a:defRPr>
            </a:pPr>
            <a:r>
              <a:t>Non-Solar Neighbor  --  overpays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3840480" cy="502920"/>
          </a:xfrm>
          <a:prstGeom prst="roundRect">
            <a:avLst/>
          </a:prstGeom>
          <a:solidFill>
            <a:srgbClr val="30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EF4444"/>
                </a:solidFill>
                <a:latin typeface="Segoe UI"/>
              </a:defRPr>
            </a:pPr>
            <a:r>
              <a:t>Same society. Same grid. Unfair deal for both.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TARGET USERS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0" y="18745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Priya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0848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05060"/>
                </a:solidFill>
                <a:latin typeface="Segoe UI"/>
              </a:defRPr>
            </a:pPr>
            <a:r>
              <a:t>The Prosumer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18288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Owns rooftop solar</a:t>
            </a:r>
            <a:br/>
            <a:r>
              <a:t>Surplus on sunny days</a:t>
            </a:r>
            <a:br/>
            <a:r>
              <a:t>Gets low DISCOM rate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0" y="310896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063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Rahul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3192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05060"/>
                </a:solidFill>
                <a:latin typeface="Segoe UI"/>
              </a:defRPr>
            </a:pPr>
            <a:r>
              <a:t>The Buyer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0632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No solar panels</a:t>
            </a:r>
            <a:br/>
            <a:r>
              <a:t>Pays full retail tariff</a:t>
            </a:r>
            <a:br/>
            <a:r>
              <a:t>Wants cheaper energy</a:t>
            </a:r>
          </a:p>
        </p:txBody>
      </p:sp>
      <p:sp>
        <p:nvSpPr>
          <p:cNvPr id="23" name="Oval 22"/>
          <p:cNvSpPr/>
          <p:nvPr/>
        </p:nvSpPr>
        <p:spPr>
          <a:xfrm>
            <a:off x="5029200" y="4343400"/>
            <a:ext cx="548640" cy="5486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4297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B8A6"/>
                </a:solidFill>
                <a:latin typeface="Segoe UI"/>
              </a:defRPr>
            </a:pPr>
            <a:r>
              <a:t>RWA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45537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05060"/>
                </a:solidFill>
                <a:latin typeface="Segoe UI"/>
              </a:defRPr>
            </a:pPr>
            <a:r>
              <a:t>Coordinator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2976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Trusted authority</a:t>
            </a:r>
            <a:br/>
            <a:r>
              <a:t>Bulk onboarding</a:t>
            </a:r>
            <a:br/>
            <a:r>
              <a:t>Drives adoption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05060"/>
                </a:solidFill>
                <a:latin typeface="Segoe UI"/>
              </a:defRPr>
            </a:pPr>
            <a:r>
              <a:t>EXISTING ALTERNATIVES &amp; WHY THEY FAIL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0" y="5349240"/>
            <a:ext cx="2286000" cy="777240"/>
          </a:xfrm>
          <a:prstGeom prst="roundRect">
            <a:avLst/>
          </a:prstGeom>
          <a:solidFill>
            <a:srgbClr val="202028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66360" y="53949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Segoe UI"/>
              </a:defRPr>
            </a:pPr>
            <a:r>
              <a:t>Net Metering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5669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08090"/>
                </a:solidFill>
                <a:latin typeface="Segoe UI"/>
              </a:defRPr>
            </a:pPr>
            <a:r>
              <a:t>Low price, no choice, no transparency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79" y="5349240"/>
            <a:ext cx="2286000" cy="777240"/>
          </a:xfrm>
          <a:prstGeom prst="roundRect">
            <a:avLst/>
          </a:prstGeom>
          <a:solidFill>
            <a:srgbClr val="202028"/>
          </a:solidFill>
          <a:ln w="19050">
            <a:solidFill>
              <a:srgbClr val="50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35239" y="53949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05060"/>
                </a:solidFill>
                <a:latin typeface="Segoe UI"/>
              </a:defRPr>
            </a:pPr>
            <a:r>
              <a:t>Pulse Energy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39" y="5669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08090"/>
                </a:solidFill>
                <a:latin typeface="Segoe UI"/>
              </a:defRPr>
            </a:pPr>
            <a:r>
              <a:t>Targets EV users, not housing societies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66960" y="5349240"/>
            <a:ext cx="2286000" cy="777240"/>
          </a:xfrm>
          <a:prstGeom prst="roundRect">
            <a:avLst/>
          </a:prstGeom>
          <a:solidFill>
            <a:srgbClr val="202028"/>
          </a:solidFill>
          <a:ln w="19050">
            <a:solidFill>
              <a:srgbClr val="50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04120" y="53949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05060"/>
                </a:solidFill>
                <a:latin typeface="Segoe UI"/>
              </a:defRPr>
            </a:pPr>
            <a:r>
              <a:t>Power Ledger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20" y="5669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08090"/>
                </a:solidFill>
                <a:latin typeface="Segoe UI"/>
              </a:defRPr>
            </a:pPr>
            <a:r>
              <a:t>Global, not India-focused / residential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1463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Segoe UI"/>
              </a:defRPr>
            </a:pPr>
            <a:r>
              <a:t>HOW SERIOUS?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75520" y="1828800"/>
            <a:ext cx="2011680" cy="731520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75520" y="1828800"/>
            <a:ext cx="3810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12680" y="19019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50.06L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22128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solar households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75520" y="2743200"/>
            <a:ext cx="2011680" cy="731520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875520" y="2743200"/>
            <a:ext cx="38100" cy="7315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12680" y="28163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Rs.421Cr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12680" y="31272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earned at low rates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875520" y="3657600"/>
            <a:ext cx="2011680" cy="731520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75520" y="3657600"/>
            <a:ext cx="3810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12680" y="3730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3L+/mo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12680" y="40416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new installations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75520" y="4572000"/>
            <a:ext cx="2011680" cy="731520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875520" y="4572000"/>
            <a:ext cx="38100" cy="7315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12680" y="4645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Segoe UI"/>
              </a:defRPr>
            </a:pPr>
            <a:r>
              <a:t>150GW+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12680" y="49560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solar capacity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060"/>
                </a:solidFill>
                <a:latin typeface="Segoe UI"/>
              </a:defRPr>
            </a:pPr>
            <a: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PROPOSED SOLUTION + HOW IT WORKS  |  FEASIBILITY: 10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SolarShare — Architecture &amp; Trade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90"/>
                </a:solidFill>
                <a:latin typeface="Segoe UI"/>
              </a:defRPr>
            </a:pPr>
            <a:r>
              <a:t>We build ONLY the app layer. Government builds everything else.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05060"/>
                </a:solidFill>
                <a:latin typeface="Segoe UI"/>
              </a:defRPr>
            </a:pPr>
            <a:r>
              <a:t>INDIA ENERGY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4754880" cy="530352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05060"/>
                </a:solidFill>
                <a:latin typeface="Segoe UI"/>
              </a:defRPr>
            </a:pPr>
            <a:r>
              <a:t>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Prosumers | Buyers | RWA | EV Stations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4754880" cy="530352"/>
          </a:xfrm>
          <a:prstGeom prst="roundRect">
            <a:avLst/>
          </a:prstGeom>
          <a:solidFill>
            <a:srgbClr val="30251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963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SolarShare (BAP)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2491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OUR APP -- What we build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08960"/>
            <a:ext cx="4754880" cy="530352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36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B8A6"/>
                </a:solidFill>
                <a:latin typeface="Segoe UI"/>
              </a:defRPr>
            </a:pPr>
            <a:r>
              <a:t>UEI / Beckn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6499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Govt open network (like ONDC)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39"/>
            <a:ext cx="4754880" cy="530352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76471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DISCOM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05071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Smart meter data + billing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89120"/>
            <a:ext cx="4754880" cy="530352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165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05060"/>
                </a:solidFill>
                <a:latin typeface="Segoe UI"/>
              </a:defRPr>
            </a:pPr>
            <a:r>
              <a:t>Physical Grid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4515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7.24Cr meters + panels + grid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2148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WE BUILD</a:t>
            </a:r>
            <a:br/>
            <a:r>
              <a:t>THIS ONLY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5532120" y="2377440"/>
            <a:ext cx="9144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0" y="3108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Segoe UI"/>
              </a:defRPr>
            </a:pPr>
            <a:r>
              <a:t>EV CHARGING INTEGRATION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0" y="3383280"/>
            <a:ext cx="5760720" cy="1463040"/>
          </a:xfrm>
          <a:prstGeom prst="roundRect">
            <a:avLst/>
          </a:prstGeom>
          <a:solidFill>
            <a:srgbClr val="202028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3474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0E0E8"/>
                </a:solidFill>
                <a:latin typeface="Segoe UI"/>
              </a:defRPr>
            </a:pPr>
            <a:r>
              <a:t>Solar Owner  --&gt;  SolarShare  --&gt;  EV Charging Station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3794760"/>
            <a:ext cx="5303520" cy="12700"/>
          </a:xfrm>
          <a:prstGeom prst="rect">
            <a:avLst/>
          </a:prstGeom>
          <a:solidFill>
            <a:srgbClr val="505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38862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2C55E"/>
                </a:solidFill>
                <a:latin typeface="Segoe UI"/>
              </a:defRPr>
            </a:pPr>
            <a:r>
              <a:t>Buy from prosumer at Rs.5.10/kWh (above DISCOM feed-in of Rs.4.10)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8BDF8"/>
                </a:solidFill>
                <a:latin typeface="Segoe UI"/>
              </a:defRPr>
            </a:pPr>
            <a:r>
              <a:t>Sell to EV station at Rs.5.80/kWh (below DISCOM retail of Rs.6.00+)</a:t>
            </a:r>
          </a:p>
          <a:p>
            <a:pPr algn="l">
              <a:spcAft>
                <a:spcPts val="200"/>
              </a:spcAft>
              <a:defRPr sz="900" b="1">
                <a:solidFill>
                  <a:srgbClr val="F59E0B"/>
                </a:solidFill>
                <a:latin typeface="Segoe UI"/>
              </a:defRPr>
            </a:pPr>
            <a:r>
              <a:t>EV station saves. Prosumer earns more. SolarShare earns spread + fee.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A78BFA"/>
                </a:solidFill>
                <a:latin typeface="Segoe UI"/>
              </a:defRPr>
            </a:pPr>
            <a:r>
              <a:t>New revenue stream: EV fleet operators, commercial charging hubs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6634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Segoe UI"/>
              </a:defRPr>
            </a:pPr>
            <a:r>
              <a:t>GRAPH ENGINEERING (MATCHING)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937760"/>
            <a:ext cx="4754880" cy="1554480"/>
          </a:xfrm>
          <a:prstGeom prst="roundRect">
            <a:avLst/>
          </a:prstGeom>
          <a:solidFill>
            <a:srgbClr val="20202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02920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E0E0E8"/>
                </a:solidFill>
                <a:latin typeface="Segoe UI"/>
              </a:defRPr>
            </a:pPr>
            <a:r>
              <a:t>Every meter = a node in the graph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808090"/>
                </a:solidFill>
                <a:latin typeface="Segoe UI"/>
              </a:defRPr>
            </a:pPr>
            <a:r>
              <a:t>Every possible trade = weighted edge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505060"/>
                </a:solidFill>
                <a:latin typeface="Segoe UI"/>
              </a:defRPr>
            </a:pPr>
            <a:r>
              <a:t>  Weights: price + grid proximity + reliability</a:t>
            </a:r>
          </a:p>
          <a:p>
            <a:pPr algn="l">
              <a:spcAft>
                <a:spcPts val="200"/>
              </a:spcAft>
              <a:defRPr sz="1000" b="1">
                <a:solidFill>
                  <a:srgbClr val="22C55E"/>
                </a:solidFill>
                <a:latin typeface="Segoe UI"/>
              </a:defRPr>
            </a:pPr>
            <a:r>
              <a:t>Solve for optimal set of trades across society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505060"/>
                </a:solidFill>
                <a:latin typeface="Segoe UI"/>
              </a:defRPr>
            </a:pPr>
            <a:r>
              <a:t>Same algorithm family as ride-sharing matching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F59E0B"/>
                </a:solidFill>
                <a:latin typeface="Segoe UI"/>
              </a:defRPr>
            </a:pPr>
            <a:r>
              <a:t>MVP: rule-based | Phase 2: graph + ML forecasting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5029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05060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33" name="Oval 32"/>
          <p:cNvSpPr/>
          <p:nvPr/>
        </p:nvSpPr>
        <p:spPr>
          <a:xfrm>
            <a:off x="5669280" y="5330952"/>
            <a:ext cx="164592" cy="16459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0" y="53035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5303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React Native / Flutter</a:t>
            </a:r>
          </a:p>
        </p:txBody>
      </p:sp>
      <p:sp>
        <p:nvSpPr>
          <p:cNvPr id="36" name="Oval 35"/>
          <p:cNvSpPr/>
          <p:nvPr/>
        </p:nvSpPr>
        <p:spPr>
          <a:xfrm>
            <a:off x="5669280" y="5605272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55778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5577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Node.js / FastAPI</a:t>
            </a:r>
          </a:p>
        </p:txBody>
      </p:sp>
      <p:sp>
        <p:nvSpPr>
          <p:cNvPr id="39" name="Oval 38"/>
          <p:cNvSpPr/>
          <p:nvPr/>
        </p:nvSpPr>
        <p:spPr>
          <a:xfrm>
            <a:off x="5669280" y="5879591"/>
            <a:ext cx="164592" cy="16459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0" y="5852159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Segoe UI"/>
              </a:defRPr>
            </a:pPr>
            <a:r>
              <a:t>Database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585215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Firebase / Supabase</a:t>
            </a:r>
          </a:p>
        </p:txBody>
      </p:sp>
      <p:sp>
        <p:nvSpPr>
          <p:cNvPr id="42" name="Oval 41"/>
          <p:cNvSpPr/>
          <p:nvPr/>
        </p:nvSpPr>
        <p:spPr>
          <a:xfrm>
            <a:off x="5669280" y="6153911"/>
            <a:ext cx="164592" cy="16459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0" y="6126479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4B8A6"/>
                </a:solidFill>
                <a:latin typeface="Segoe UI"/>
              </a:defRPr>
            </a:pPr>
            <a:r>
              <a:t>Ledger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612647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SHA-256 hash chain</a:t>
            </a:r>
          </a:p>
        </p:txBody>
      </p:sp>
      <p:sp>
        <p:nvSpPr>
          <p:cNvPr id="45" name="Oval 44"/>
          <p:cNvSpPr/>
          <p:nvPr/>
        </p:nvSpPr>
        <p:spPr>
          <a:xfrm>
            <a:off x="5669280" y="6428232"/>
            <a:ext cx="164592" cy="164592"/>
          </a:xfrm>
          <a:prstGeom prst="ellipse">
            <a:avLst/>
          </a:prstGeom>
          <a:solidFill>
            <a:srgbClr val="505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0" y="64008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05060"/>
                </a:solidFill>
                <a:latin typeface="Segoe UI"/>
              </a:defRPr>
            </a:pPr>
            <a:r>
              <a:t>Hosting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6400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Free tier (Rs.0)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50292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Segoe UI"/>
              </a:defRPr>
            </a:pPr>
            <a:r>
              <a:t>API FALLBACK STRATEGY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6800" y="5303520"/>
            <a:ext cx="3200400" cy="1188720"/>
          </a:xfrm>
          <a:prstGeom prst="roundRect">
            <a:avLst/>
          </a:prstGeom>
          <a:solidFill>
            <a:srgbClr val="202028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69680" y="539496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F4444"/>
                </a:solidFill>
                <a:latin typeface="Segoe UI"/>
              </a:defRPr>
            </a:pPr>
            <a:r>
              <a:t>If DISCOM blocks meter API: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808090"/>
                </a:solidFill>
                <a:latin typeface="Segoe UI"/>
              </a:defRPr>
            </a:pPr>
            <a:r>
              <a:t>Path A: OCR of meter displays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808090"/>
                </a:solidFill>
                <a:latin typeface="Segoe UI"/>
              </a:defRPr>
            </a:pPr>
            <a:r>
              <a:t>Path B: RWA sub-meter direct feed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E0E0E8"/>
                </a:solidFill>
                <a:latin typeface="Segoe UI"/>
              </a:defRPr>
            </a:pPr>
            <a:r>
              <a:t>No single DISCOM decision can</a:t>
            </a:r>
          </a:p>
          <a:p>
            <a:pPr algn="l">
              <a:spcAft>
                <a:spcPts val="200"/>
              </a:spcAft>
              <a:defRPr sz="900" b="1">
                <a:solidFill>
                  <a:srgbClr val="E0E0E8"/>
                </a:solidFill>
                <a:latin typeface="Segoe UI"/>
              </a:defRPr>
            </a:pPr>
            <a:r>
              <a:t>kill an already-running pilot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060"/>
                </a:solidFill>
                <a:latin typeface="Segoe UI"/>
              </a:defRPr>
            </a:pPr>
            <a: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INNOVATION &amp; ORIGINALITY (15) + CREATIVITY &amp; USP (15)  |  30 MARKS COMBINED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What Makes SolarShare Different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566160" cy="1828800"/>
          </a:xfrm>
          <a:prstGeom prst="roundRect">
            <a:avLst/>
          </a:prstGeom>
          <a:solidFill>
            <a:srgbClr val="20202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6616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Housing-Society</a:t>
            </a:r>
            <a:br/>
            <a:r>
              <a:t>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90"/>
                </a:solidFill>
                <a:latin typeface="Segoe UI"/>
              </a:defRPr>
            </a:pPr>
            <a:r>
              <a:t>Only platform targeting</a:t>
            </a:r>
            <a:br/>
            <a:r>
              <a:t>RWA-led communities.</a:t>
            </a:r>
            <a:br/>
            <a:r>
              <a:t>Pulse Energy = EV users.</a:t>
            </a:r>
            <a:br/>
            <a:r>
              <a:t>This niche is wide open.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566160" cy="1828800"/>
          </a:xfrm>
          <a:prstGeom prst="roundRect">
            <a:avLst/>
          </a:prstGeom>
          <a:solidFill>
            <a:srgbClr val="20202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356616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Zero Infrastructure</a:t>
            </a:r>
            <a:br/>
            <a:r>
              <a:t>Asset-Light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488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90"/>
                </a:solidFill>
                <a:latin typeface="Segoe UI"/>
              </a:defRPr>
            </a:pPr>
            <a:r>
              <a:t>We build ONLY the app.</a:t>
            </a:r>
            <a:br/>
            <a:r>
              <a:t>Govt built the stack.</a:t>
            </a:r>
            <a:br/>
            <a:r>
              <a:t>Like PhonePe on UPI.</a:t>
            </a:r>
            <a:br/>
            <a:r>
              <a:t>Rs.0 hardware cost.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63040"/>
            <a:ext cx="3566160" cy="1828800"/>
          </a:xfrm>
          <a:prstGeom prst="roundRect">
            <a:avLst/>
          </a:prstGeom>
          <a:solidFill>
            <a:srgbClr val="2020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463040"/>
            <a:ext cx="356616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6002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Both Sides Win</a:t>
            </a:r>
            <a:br/>
            <a:r>
              <a:t>Simultaneously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488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90"/>
                </a:solidFill>
                <a:latin typeface="Segoe UI"/>
              </a:defRPr>
            </a:pPr>
            <a:r>
              <a:t>Seller: +20-30% above</a:t>
            </a:r>
            <a:br/>
            <a:r>
              <a:t>feed-in. Buyer: -10-15%</a:t>
            </a:r>
            <a:br/>
            <a:r>
              <a:t>below retail. Not zero-sum.</a:t>
            </a:r>
            <a:br/>
            <a:r>
              <a:t>DISCOM margin redistributed.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661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05060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0480"/>
            <a:ext cx="1783080" cy="1005840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840480"/>
            <a:ext cx="178308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93192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Surplus Listing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One-tap listing</a:t>
            </a:r>
            <a:br/>
            <a:r>
              <a:t>for prosumers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68880" y="3840480"/>
            <a:ext cx="1783080" cy="1005840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68880" y="3840480"/>
            <a:ext cx="1783080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0" y="393192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Marketplace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2062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Browse &amp; buy</a:t>
            </a:r>
            <a:br/>
            <a:r>
              <a:t>from neighbors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840480"/>
            <a:ext cx="1783080" cy="1005840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3840480"/>
            <a:ext cx="1783080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393192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Segoe UI"/>
              </a:defRPr>
            </a:pPr>
            <a:r>
              <a:t>Hash Ledger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2062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SHA-256 tamper-</a:t>
            </a:r>
            <a:br/>
            <a:r>
              <a:t>evident records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840480"/>
            <a:ext cx="1783080" cy="1005840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3840480"/>
            <a:ext cx="1783080" cy="25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93192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B8A6"/>
                </a:solidFill>
                <a:latin typeface="Segoe UI"/>
              </a:defRPr>
            </a:pPr>
            <a:r>
              <a:t>Graph Matching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2062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Optimal trade</a:t>
            </a:r>
            <a:br/>
            <a:r>
              <a:t>allocation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3840480"/>
            <a:ext cx="1783080" cy="1005840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3840480"/>
            <a:ext cx="1783080" cy="25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393192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Segoe UI"/>
              </a:defRPr>
            </a:pPr>
            <a:r>
              <a:t>EV Charging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2062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Supply to EV</a:t>
            </a:r>
            <a:br/>
            <a:r>
              <a:t>stations too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49840" y="3840480"/>
            <a:ext cx="1783080" cy="1005840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49840" y="3840480"/>
            <a:ext cx="1783080" cy="25400"/>
          </a:xfrm>
          <a:prstGeom prst="rect">
            <a:avLst/>
          </a:prstGeom>
          <a:solidFill>
            <a:srgbClr val="505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41280" y="393192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05060"/>
                </a:solidFill>
                <a:latin typeface="Segoe UI"/>
              </a:defRPr>
            </a:pPr>
            <a:r>
              <a:t>Grid Fallback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42062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Auto-switch if</a:t>
            </a:r>
            <a:br/>
            <a:r>
              <a:t>no surplus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1206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Segoe UI"/>
              </a:defRPr>
            </a:pPr>
            <a:r>
              <a:t>DISCOM DEFENSE (Why Wheeling Charges Don't Kill Us)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5394960"/>
            <a:ext cx="5303520" cy="1097280"/>
          </a:xfrm>
          <a:prstGeom prst="roundRect">
            <a:avLst/>
          </a:prstGeom>
          <a:solidFill>
            <a:srgbClr val="20202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48640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2C55E"/>
                </a:solidFill>
                <a:latin typeface="Segoe UI"/>
              </a:defRPr>
            </a:pPr>
            <a:r>
              <a:t>Closed-loop, same-feeder trading = no wheeling charges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E0E0E8"/>
                </a:solidFill>
                <a:latin typeface="Segoe UI"/>
              </a:defRPr>
            </a:pPr>
            <a:r>
              <a:t>DERC already waived wheeling for Delhi P2P pilot (Feb 2026)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808090"/>
                </a:solidFill>
                <a:latin typeface="Segoe UI"/>
              </a:defRPr>
            </a:pPr>
            <a:r>
              <a:t>Same local transformer = minimal transmission loss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808090"/>
                </a:solidFill>
                <a:latin typeface="Segoe UI"/>
              </a:defRPr>
            </a:pPr>
            <a:r>
              <a:t>Our Rs.0.42/kWh fee works because charges don't apply here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1206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ORIGINALITY CHECK (Per Section 4 of Guidelines)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5394960"/>
            <a:ext cx="5303520" cy="1097280"/>
          </a:xfrm>
          <a:prstGeom prst="roundRect">
            <a:avLst/>
          </a:prstGeom>
          <a:solidFill>
            <a:srgbClr val="20202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0" y="548640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E0E0E8"/>
                </a:solidFill>
                <a:latin typeface="Segoe UI"/>
              </a:defRPr>
            </a:pPr>
            <a:r>
              <a:t>What exists? Net metering, Pulse Energy (EV), Power Ledger (global)</a:t>
            </a:r>
          </a:p>
          <a:p>
            <a:pPr algn="l">
              <a:spcAft>
                <a:spcPts val="20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t>What we change? Segment (housing societies), trust (RWA), stack (IES)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E0E0E8"/>
                </a:solidFill>
                <a:latin typeface="Segoe UI"/>
              </a:defRPr>
            </a:pPr>
            <a:r>
              <a:t>Why better? Both sides win + asset-light + India-specific compliance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2C55E"/>
                </a:solidFill>
                <a:latin typeface="Segoe UI"/>
              </a:defRPr>
            </a:pPr>
            <a:r>
              <a:t>Graph engineering matching = algorithmic innovation over rule-based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060"/>
                </a:solidFill>
                <a:latin typeface="Segoe UI"/>
              </a:defRPr>
            </a:pPr>
            <a: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TARGET MARKET + GOVERNMENT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Real Policy. Real Infrastructure. Real Money.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05060"/>
                </a:solidFill>
                <a:latin typeface="Segoe UI"/>
              </a:defRPr>
            </a:pPr>
            <a:r>
              <a:t>MARKET SIZING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754880" cy="3931920"/>
          </a:xfrm>
          <a:prstGeom prst="roundRect">
            <a:avLst/>
          </a:prstGeom>
          <a:solidFill>
            <a:srgbClr val="202028"/>
          </a:solidFill>
          <a:ln w="19050">
            <a:solidFill>
              <a:srgbClr val="8A5A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  <a:latin typeface="Segoe UI"/>
              </a:defRPr>
            </a:pPr>
            <a:r>
              <a:t>1 Crore households (PM Surya Ghar FY27 target)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India solar: $41B (2026) -&gt; $539B (2034) | 37.82% CAGR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834640"/>
            <a:ext cx="4114800" cy="2560320"/>
          </a:xfrm>
          <a:prstGeom prst="roundRect">
            <a:avLst/>
          </a:prstGeom>
          <a:solidFill>
            <a:srgbClr val="28283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926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546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  <a:latin typeface="Segoe UI"/>
              </a:defRPr>
            </a:pPr>
            <a:r>
              <a:t>~1.25 Crore consumers in pilot DISCOMs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42900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Delhi (BRPL + TPDDL) + Western UP (PVVNL)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3931920"/>
            <a:ext cx="3474720" cy="1463040"/>
          </a:xfrm>
          <a:prstGeom prst="roundRect">
            <a:avLst/>
          </a:prstGeom>
          <a:solidFill>
            <a:srgbClr val="152815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40233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SOM (Year 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251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  <a:latin typeface="Segoe UI"/>
              </a:defRPr>
            </a:pPr>
            <a:r>
              <a:t>100s-1000s households</a:t>
            </a:r>
            <a:br/>
            <a:r>
              <a:t>in a few housing societies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754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Global P2P energy: $556M -&gt; $10.4B by 2034 (34% CAGR)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463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05060"/>
                </a:solidFill>
                <a:latin typeface="Segoe UI"/>
              </a:defRPr>
            </a:pPr>
            <a:r>
              <a:t>GOVERNMENT VALIDATION TIMELINE</a:t>
            </a:r>
          </a:p>
        </p:txBody>
      </p:sp>
      <p:sp>
        <p:nvSpPr>
          <p:cNvPr id="19" name="Oval 18"/>
          <p:cNvSpPr/>
          <p:nvPr/>
        </p:nvSpPr>
        <p:spPr>
          <a:xfrm>
            <a:off x="6126480" y="1901952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2066544"/>
            <a:ext cx="19050" cy="704088"/>
          </a:xfrm>
          <a:prstGeom prst="rect">
            <a:avLst/>
          </a:prstGeom>
          <a:solidFill>
            <a:srgbClr val="505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8105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029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PM Surya Ghar launched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2402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3L+ installs/month, Rs.28K Cr subsidies disbursed</a:t>
            </a:r>
          </a:p>
        </p:txBody>
      </p:sp>
      <p:sp>
        <p:nvSpPr>
          <p:cNvPr id="24" name="Oval 23"/>
          <p:cNvSpPr/>
          <p:nvPr/>
        </p:nvSpPr>
        <p:spPr>
          <a:xfrm>
            <a:off x="6126480" y="2770632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9632" y="2935224"/>
            <a:ext cx="19050" cy="704088"/>
          </a:xfrm>
          <a:prstGeom prst="rect">
            <a:avLst/>
          </a:prstGeom>
          <a:solidFill>
            <a:srgbClr val="505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6791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Feb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8986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IES demo to PM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1089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India Energy Stack live, Beckn Protocol, UEI network</a:t>
            </a:r>
          </a:p>
        </p:txBody>
      </p:sp>
      <p:sp>
        <p:nvSpPr>
          <p:cNvPr id="29" name="Oval 28"/>
          <p:cNvSpPr/>
          <p:nvPr/>
        </p:nvSpPr>
        <p:spPr>
          <a:xfrm>
            <a:off x="6126480" y="3639312"/>
            <a:ext cx="164592" cy="16459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9632" y="3803904"/>
            <a:ext cx="19050" cy="704088"/>
          </a:xfrm>
          <a:prstGeom prst="rect">
            <a:avLst/>
          </a:prstGeom>
          <a:solidFill>
            <a:srgbClr val="505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54787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Segoe UI"/>
              </a:defRPr>
            </a:pPr>
            <a:r>
              <a:t>Feb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7673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DERC/UPERC pilot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977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6-month P2P pilot, wheeling charges waived in Delhi</a:t>
            </a:r>
          </a:p>
        </p:txBody>
      </p:sp>
      <p:sp>
        <p:nvSpPr>
          <p:cNvPr id="34" name="Oval 33"/>
          <p:cNvSpPr/>
          <p:nvPr/>
        </p:nvSpPr>
        <p:spPr>
          <a:xfrm>
            <a:off x="6126480" y="4507992"/>
            <a:ext cx="164592" cy="16459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9632" y="4672584"/>
            <a:ext cx="19050" cy="704088"/>
          </a:xfrm>
          <a:prstGeom prst="rect">
            <a:avLst/>
          </a:prstGeom>
          <a:solidFill>
            <a:srgbClr val="505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41655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Jul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6360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50L homes crossed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8463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7.24 Cr smart meters, 150 GW+ national solar capacity</a:t>
            </a:r>
          </a:p>
        </p:txBody>
      </p:sp>
      <p:sp>
        <p:nvSpPr>
          <p:cNvPr id="39" name="Oval 38"/>
          <p:cNvSpPr/>
          <p:nvPr/>
        </p:nvSpPr>
        <p:spPr>
          <a:xfrm>
            <a:off x="6126480" y="5376672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528523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Aug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5046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SolarShare enters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5715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First-mover in housing society niche during narrow pilot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5943600"/>
            <a:ext cx="10698480" cy="502920"/>
          </a:xfrm>
          <a:prstGeom prst="roundRect">
            <a:avLst/>
          </a:prstGeom>
          <a:solidFill>
            <a:srgbClr val="202028"/>
          </a:solidFill>
          <a:ln w="19050">
            <a:solidFill>
              <a:srgbClr val="50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808090"/>
                </a:solidFill>
                <a:latin typeface="Segoe UI"/>
              </a:defRPr>
            </a:pPr>
            <a:r>
              <a:t>Market: Local (1 society) -&gt; Regional (Delhi + UP pilot) -&gt; National (multi-state) -&gt; Global (model replicable anywhere with solar + smart meters)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060"/>
                </a:solidFill>
                <a:latin typeface="Segoe UI"/>
              </a:defRPr>
            </a:pPr>
            <a: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REVENUE, BUSINESS POTENTIAL &amp; SCALABILITY  |  25 MARKS (HIGHEST!)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Revenue Model + Unit Economics + Profitability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05060"/>
                </a:solidFill>
                <a:latin typeface="Segoe UI"/>
              </a:defRPr>
            </a:pPr>
            <a:r>
              <a:t>REVENUE STREAMS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303520" cy="658368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8100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Transaction Fee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7830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Rs.0.42/kWh per trade</a:t>
            </a:r>
            <a:br/>
            <a:r>
              <a:t>(Rs.0.21 buyer + Rs.0.21 seller)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920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05060"/>
                </a:solidFill>
                <a:latin typeface="Segoe UI"/>
              </a:defRPr>
            </a:pPr>
            <a:r>
              <a:t>Phase 1+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87168"/>
            <a:ext cx="5303520" cy="658368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487168"/>
            <a:ext cx="38100" cy="6583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53288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SaaS to RWAs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53288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Monthly subscription for</a:t>
            </a:r>
            <a:br/>
            <a:r>
              <a:t>dashboard +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67004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05060"/>
                </a:solidFill>
                <a:latin typeface="Segoe UI"/>
              </a:defRPr>
            </a:pPr>
            <a:r>
              <a:t>Phase 2+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36976"/>
            <a:ext cx="5303520" cy="658368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236976"/>
            <a:ext cx="38100" cy="6583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28269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Carbon Credits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28269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CO2 offset tracking, sell</a:t>
            </a:r>
            <a:br/>
            <a:r>
              <a:t>green certificates (ESG)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419856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05060"/>
                </a:solidFill>
                <a:latin typeface="Segoe UI"/>
              </a:defRPr>
            </a:pPr>
            <a:r>
              <a:t>Phase 3+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86783"/>
            <a:ext cx="5303520" cy="658368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986783"/>
            <a:ext cx="38100" cy="6583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032503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Segoe UI"/>
              </a:defRPr>
            </a:pPr>
            <a:r>
              <a:t>EV Station Fees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032503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Margin on prosumer-to-EV</a:t>
            </a:r>
            <a:br/>
            <a:r>
              <a:t>station energy supply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4169663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05060"/>
                </a:solidFill>
                <a:latin typeface="Segoe UI"/>
              </a:defRPr>
            </a:pPr>
            <a:r>
              <a:t>Phase 2+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736592"/>
            <a:ext cx="5303520" cy="658368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736592"/>
            <a:ext cx="38100" cy="6583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78231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B8A6"/>
                </a:solidFill>
                <a:latin typeface="Segoe UI"/>
              </a:defRPr>
            </a:pPr>
            <a:r>
              <a:t>Data Insights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478231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90"/>
                </a:solidFill>
                <a:latin typeface="Segoe UI"/>
              </a:defRPr>
            </a:pPr>
            <a:r>
              <a:t>Anonymized consumption</a:t>
            </a:r>
            <a:br/>
            <a:r>
              <a:t>data for DISCOMs/planners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491947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05060"/>
                </a:solidFill>
                <a:latin typeface="Segoe UI"/>
              </a:defRPr>
            </a:pPr>
            <a:r>
              <a:t>Phase 3+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463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UNIT ECONOMICS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1737360"/>
            <a:ext cx="5303520" cy="2194560"/>
          </a:xfrm>
          <a:prstGeom prst="roundRect">
            <a:avLst/>
          </a:prstGeom>
          <a:solidFill>
            <a:srgbClr val="20202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18288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Pricing Breakdown (per 8 kWh trade)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202028"/>
                </a:solidFill>
                <a:latin typeface="Segoe UI"/>
              </a:defRPr>
            </a:pPr>
          </a:p>
          <a:p>
            <a:pPr algn="l">
              <a:spcAft>
                <a:spcPts val="200"/>
              </a:spcAft>
              <a:defRPr sz="1000" b="0">
                <a:solidFill>
                  <a:srgbClr val="EF4444"/>
                </a:solidFill>
                <a:latin typeface="Segoe UI"/>
              </a:defRPr>
            </a:pPr>
            <a:r>
              <a:t>DISCOM feed-in tariff:         Rs.4.10/kWh</a:t>
            </a:r>
          </a:p>
          <a:p>
            <a:pPr algn="l">
              <a:spcAft>
                <a:spcPts val="200"/>
              </a:spcAft>
              <a:defRPr sz="1000" b="1">
                <a:solidFill>
                  <a:srgbClr val="22C55E"/>
                </a:solidFill>
                <a:latin typeface="Segoe UI"/>
              </a:defRPr>
            </a:pPr>
            <a:r>
              <a:t>SolarShare P2P price:          Rs.5.10/kWh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EF4444"/>
                </a:solidFill>
                <a:latin typeface="Segoe UI"/>
              </a:defRPr>
            </a:pPr>
            <a:r>
              <a:t>DISCOM retail tariff:          Rs.6.00/kWh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202028"/>
                </a:solidFill>
                <a:latin typeface="Segoe UI"/>
              </a:defRPr>
            </a:pPr>
          </a:p>
          <a:p>
            <a:pPr algn="l">
              <a:spcAft>
                <a:spcPts val="200"/>
              </a:spcAft>
              <a:defRPr sz="1000" b="1">
                <a:solidFill>
                  <a:srgbClr val="22C55E"/>
                </a:solidFill>
                <a:latin typeface="Segoe UI"/>
              </a:defRPr>
            </a:pPr>
            <a:r>
              <a:t>Seller earns: 8 x Rs.5.10 - Rs.1.68 fee  = Rs.39.12  (+19%)</a:t>
            </a:r>
          </a:p>
          <a:p>
            <a:pPr algn="l">
              <a:spcAft>
                <a:spcPts val="2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Buyer pays:   8 x Rs.5.10 + Rs.1.68 fee  = Rs.42.48  (-11.5%)</a:t>
            </a:r>
          </a:p>
          <a:p>
            <a:pPr algn="l">
              <a:spcAft>
                <a:spcPts val="20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t>SolarShare:   Rs.0.42 x 8                 = Rs.3.36 revenue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486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05060"/>
                </a:solidFill>
                <a:latin typeface="Segoe UI"/>
              </a:defRPr>
            </a:pPr>
            <a:r>
              <a:t>COST STRUCTURE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715000"/>
            <a:ext cx="5303520" cy="868680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7607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808090"/>
                </a:solidFill>
                <a:latin typeface="Segoe UI"/>
              </a:defRPr>
            </a:pPr>
            <a:r>
              <a:t>Phase 0: Rs.0 (students + free tier)  |  Phase 1: Rs.0-2L</a:t>
            </a:r>
          </a:p>
          <a:p>
            <a:pPr algn="l">
              <a:spcAft>
                <a:spcPts val="200"/>
              </a:spcAft>
              <a:defRPr sz="900" b="1">
                <a:solidFill>
                  <a:srgbClr val="22C55E"/>
                </a:solidFill>
                <a:latin typeface="Segoe UI"/>
              </a:defRPr>
            </a:pPr>
            <a:r>
              <a:t>Cost per trade: near-zero  |  Gross margin: ~95%+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808090"/>
                </a:solidFill>
                <a:latin typeface="Segoe UI"/>
              </a:defRPr>
            </a:pPr>
            <a:r>
              <a:t>CAC: very low (RWA bulk)  |  Breakeven: 5-10 societies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206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Segoe UI"/>
              </a:defRPr>
            </a:pPr>
            <a:r>
              <a:t>PROFITABILITY AT SCALE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480560"/>
            <a:ext cx="5303520" cy="2103120"/>
          </a:xfrm>
          <a:prstGeom prst="roundRect">
            <a:avLst/>
          </a:prstGeom>
          <a:solidFill>
            <a:srgbClr val="20202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457200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2C55E"/>
                </a:solidFill>
                <a:latin typeface="Segoe UI"/>
              </a:defRPr>
            </a:pPr>
            <a:r>
              <a:t>10 societies (500 trading pairs)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E0E0E8"/>
                </a:solidFill>
                <a:latin typeface="Segoe UI"/>
              </a:defRPr>
            </a:pPr>
            <a:r>
              <a:t>500 trades/day x 6kWh x Rs.0.42    = Rs.1,260/day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E0E0E8"/>
                </a:solidFill>
                <a:latin typeface="Segoe UI"/>
              </a:defRPr>
            </a:pPr>
            <a:r>
              <a:t>+ SaaS (10 x Rs.2K/mo)             = Rs.20,000/mo</a:t>
            </a:r>
          </a:p>
          <a:p>
            <a:pPr algn="l">
              <a:spcAft>
                <a:spcPts val="20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t>Monthly revenue:                    ~Rs.58,000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808090"/>
                </a:solidFill>
                <a:latin typeface="Segoe UI"/>
              </a:defRPr>
            </a:pPr>
            <a:r>
              <a:t>Monthly costs:                      ~Rs.30,000</a:t>
            </a:r>
          </a:p>
          <a:p>
            <a:pPr algn="l">
              <a:spcAft>
                <a:spcPts val="200"/>
              </a:spcAft>
              <a:defRPr sz="1000" b="1">
                <a:solidFill>
                  <a:srgbClr val="22C55E"/>
                </a:solidFill>
                <a:latin typeface="Segoe UI"/>
              </a:defRPr>
            </a:pPr>
            <a:r>
              <a:t>Monthly profit:                     ~Rs.28,000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202028"/>
                </a:solidFill>
                <a:latin typeface="Segoe UI"/>
              </a:defRPr>
            </a:pPr>
          </a:p>
          <a:p>
            <a:pPr algn="l">
              <a:spcAft>
                <a:spcPts val="200"/>
              </a:spcAft>
              <a:defRPr sz="900" b="0">
                <a:solidFill>
                  <a:srgbClr val="F59E0B"/>
                </a:solidFill>
                <a:latin typeface="Segoe UI"/>
              </a:defRPr>
            </a:pPr>
            <a:r>
              <a:t>100 societies = ~Rs.5.8L/mo revenue | Rs.10Cr+ potential at 5K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060"/>
                </a:solidFill>
                <a:latin typeface="Segoe UI"/>
              </a:defRPr>
            </a:pPr>
            <a: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SOCIAL IMPACT (10 MARKS) + IMPLEMENTATION ROADMAP + GROWTH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Impact, Roadmap &amp; Future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Segoe UI"/>
              </a:defRPr>
            </a:pPr>
            <a:r>
              <a:t>MEASURABLE IMPACT (per society/year)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657600" cy="658368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8100" cy="6583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60-120 tonnes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783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Segoe UI"/>
              </a:defRPr>
            </a:pPr>
            <a:r>
              <a:t>CO2 offset per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057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05060"/>
                </a:solidFill>
                <a:latin typeface="Segoe UI"/>
              </a:defRPr>
            </a:pPr>
            <a:r>
              <a:t>= 2,700-5,400 trees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14600"/>
            <a:ext cx="3657600" cy="658368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514600"/>
            <a:ext cx="38100" cy="6583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5603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73K-146K kWh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560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Segoe UI"/>
              </a:defRPr>
            </a:pPr>
            <a:r>
              <a:t>P2P solar traded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834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05060"/>
                </a:solidFill>
                <a:latin typeface="Segoe UI"/>
              </a:defRPr>
            </a:pPr>
            <a:r>
              <a:t>displacing fossil grid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39"/>
            <a:ext cx="3657600" cy="658368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291839"/>
            <a:ext cx="38100" cy="6583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33755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B8A6"/>
                </a:solidFill>
                <a:latin typeface="Segoe UI"/>
              </a:defRPr>
            </a:pPr>
            <a:r>
              <a:t>Rs.1-2.5K/yr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33755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Segoe UI"/>
              </a:defRPr>
            </a:pPr>
            <a:r>
              <a:t>saved per buyer household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61187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05060"/>
                </a:solidFill>
                <a:latin typeface="Segoe UI"/>
              </a:defRPr>
            </a:pPr>
            <a:r>
              <a:t>10-15% below retail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69079"/>
            <a:ext cx="3657600" cy="658368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069079"/>
            <a:ext cx="38100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11479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Rs.2-5K/yr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11479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8"/>
                </a:solidFill>
                <a:latin typeface="Segoe UI"/>
              </a:defRPr>
            </a:pPr>
            <a:r>
              <a:t>extra for seller household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38911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05060"/>
                </a:solidFill>
                <a:latin typeface="Segoe UI"/>
              </a:defRPr>
            </a:pPr>
            <a:r>
              <a:t>20-30% above feed-in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120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05060"/>
                </a:solidFill>
                <a:latin typeface="Segoe UI"/>
              </a:defRPr>
            </a:pPr>
            <a:r>
              <a:t>GOVT POLICY ALIGNMENT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349240"/>
            <a:ext cx="3657600" cy="1097280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4406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F59E0B"/>
                </a:solidFill>
                <a:latin typeface="Segoe UI"/>
              </a:defRPr>
            </a:pPr>
            <a:r>
              <a:t>PM Surya Ghar -- improves solar ROI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14B8A6"/>
                </a:solidFill>
                <a:latin typeface="Segoe UI"/>
              </a:defRPr>
            </a:pPr>
            <a:r>
              <a:t>India Energy Stack -- we're a BAP on it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2C55E"/>
                </a:solidFill>
                <a:latin typeface="Segoe UI"/>
              </a:defRPr>
            </a:pPr>
            <a:r>
              <a:t>500 GW renewable by 2030 -- accelerates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8BDF8"/>
                </a:solidFill>
                <a:latin typeface="Segoe UI"/>
              </a:defRPr>
            </a:pPr>
            <a:r>
              <a:t>Net Zero by 2070 -- every trade displaces coal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808090"/>
                </a:solidFill>
                <a:latin typeface="Segoe UI"/>
              </a:defRPr>
            </a:pPr>
            <a:r>
              <a:t>DPDP Act 2023 -- data privacy compliant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14630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05060"/>
                </a:solidFill>
                <a:latin typeface="Segoe UI"/>
              </a:defRPr>
            </a:pPr>
            <a:r>
              <a:t>IMPLEMENTATION ROADMAP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2468880"/>
            <a:ext cx="6858000" cy="25400"/>
          </a:xfrm>
          <a:prstGeom prst="rect">
            <a:avLst/>
          </a:prstGeom>
          <a:solidFill>
            <a:srgbClr val="8A5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303520" y="2359152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18288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Phase 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205740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Hackathon MVP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46320" y="2743200"/>
            <a:ext cx="1325880" cy="1737360"/>
          </a:xfrm>
          <a:prstGeom prst="roundRect">
            <a:avLst/>
          </a:prstGeom>
          <a:solidFill>
            <a:srgbClr val="20202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37760" y="283464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59E0B"/>
                </a:solidFill>
                <a:latin typeface="Segoe UI"/>
              </a:defRPr>
            </a:pPr>
            <a:r>
              <a:t>1 Week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3063240"/>
            <a:ext cx="1143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08090"/>
                </a:solidFill>
                <a:latin typeface="Segoe UI"/>
              </a:defRPr>
            </a:pPr>
            <a:r>
              <a:t>3 screens, simulated data</a:t>
            </a:r>
            <a:br/>
            <a:r>
              <a:t>SHA-256 ledger, live demo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0" y="4572000"/>
            <a:ext cx="96012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Rs.0</a:t>
            </a:r>
          </a:p>
        </p:txBody>
      </p:sp>
      <p:sp>
        <p:nvSpPr>
          <p:cNvPr id="38" name="Oval 37"/>
          <p:cNvSpPr/>
          <p:nvPr/>
        </p:nvSpPr>
        <p:spPr>
          <a:xfrm>
            <a:off x="6720840" y="2359152"/>
            <a:ext cx="219456" cy="21945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18288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Phase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05740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Society Pilot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2743200"/>
            <a:ext cx="1325880" cy="1737360"/>
          </a:xfrm>
          <a:prstGeom prst="roundRect">
            <a:avLst/>
          </a:prstGeom>
          <a:solidFill>
            <a:srgbClr val="2020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283464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8BDF8"/>
                </a:solidFill>
                <a:latin typeface="Segoe UI"/>
              </a:defRPr>
            </a:pPr>
            <a:r>
              <a:t>Mo 1-3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3063240"/>
            <a:ext cx="1143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08090"/>
                </a:solidFill>
                <a:latin typeface="Segoe UI"/>
              </a:defRPr>
            </a:pPr>
            <a:r>
              <a:t>1 RWA, 50-200 homes</a:t>
            </a:r>
            <a:br/>
            <a:r>
              <a:t>WhatsApp, manual readings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46520" y="4572000"/>
            <a:ext cx="960120" cy="27432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Rs.0-2L</a:t>
            </a:r>
          </a:p>
        </p:txBody>
      </p:sp>
      <p:sp>
        <p:nvSpPr>
          <p:cNvPr id="45" name="Oval 44"/>
          <p:cNvSpPr/>
          <p:nvPr/>
        </p:nvSpPr>
        <p:spPr>
          <a:xfrm>
            <a:off x="8138160" y="2359152"/>
            <a:ext cx="219456" cy="21945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80960" y="18288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2C55E"/>
                </a:solidFill>
                <a:latin typeface="Segoe UI"/>
              </a:defRPr>
            </a:pPr>
            <a:r>
              <a:t>Phase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205740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Integration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80960" y="2743200"/>
            <a:ext cx="1325880" cy="1737360"/>
          </a:xfrm>
          <a:prstGeom prst="roundRect">
            <a:avLst/>
          </a:prstGeom>
          <a:solidFill>
            <a:srgbClr val="20202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0" y="283464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C55E"/>
                </a:solidFill>
                <a:latin typeface="Segoe UI"/>
              </a:defRPr>
            </a:pPr>
            <a:r>
              <a:t>Mo 3-6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3063240"/>
            <a:ext cx="1143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08090"/>
                </a:solidFill>
                <a:latin typeface="Segoe UI"/>
              </a:defRPr>
            </a:pPr>
            <a:r>
              <a:t>BAP reg, real meters</a:t>
            </a:r>
            <a:br/>
            <a:r>
              <a:t>Escrow, Hyperledger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863840" y="4572000"/>
            <a:ext cx="960120" cy="2743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Time</a:t>
            </a:r>
          </a:p>
        </p:txBody>
      </p:sp>
      <p:sp>
        <p:nvSpPr>
          <p:cNvPr id="52" name="Oval 51"/>
          <p:cNvSpPr/>
          <p:nvPr/>
        </p:nvSpPr>
        <p:spPr>
          <a:xfrm>
            <a:off x="9555480" y="2359152"/>
            <a:ext cx="219456" cy="21945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98280" y="18288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4B8A6"/>
                </a:solidFill>
                <a:latin typeface="Segoe UI"/>
              </a:defRPr>
            </a:pPr>
            <a:r>
              <a:t>Phase 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98280" y="205740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Multi-Scale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098280" y="2743200"/>
            <a:ext cx="1325880" cy="1737360"/>
          </a:xfrm>
          <a:prstGeom prst="roundRect">
            <a:avLst/>
          </a:prstGeom>
          <a:solidFill>
            <a:srgbClr val="202028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89720" y="283464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4B8A6"/>
                </a:solidFill>
                <a:latin typeface="Segoe UI"/>
              </a:defRPr>
            </a:pPr>
            <a:r>
              <a:t>Mo 6-12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9720" y="3063240"/>
            <a:ext cx="1143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08090"/>
                </a:solidFill>
                <a:latin typeface="Segoe UI"/>
              </a:defRPr>
            </a:pPr>
            <a:r>
              <a:t>5+ societies, AI forecast</a:t>
            </a:r>
            <a:br/>
            <a:r>
              <a:t>Carbon credits, EV charging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281160" y="4572000"/>
            <a:ext cx="960120" cy="2743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Revenue</a:t>
            </a:r>
          </a:p>
        </p:txBody>
      </p:sp>
      <p:sp>
        <p:nvSpPr>
          <p:cNvPr id="59" name="Oval 58"/>
          <p:cNvSpPr/>
          <p:nvPr/>
        </p:nvSpPr>
        <p:spPr>
          <a:xfrm>
            <a:off x="10972800" y="2359152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15600" y="18288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Phase 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205740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National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515600" y="2743200"/>
            <a:ext cx="1325880" cy="1737360"/>
          </a:xfrm>
          <a:prstGeom prst="roundRect">
            <a:avLst/>
          </a:prstGeom>
          <a:solidFill>
            <a:srgbClr val="20202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607040" y="283464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59E0B"/>
                </a:solidFill>
                <a:latin typeface="Segoe UI"/>
              </a:defRPr>
            </a:pPr>
            <a:r>
              <a:t>Yr 2+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07040" y="3063240"/>
            <a:ext cx="1143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08090"/>
                </a:solidFill>
                <a:latin typeface="Segoe UI"/>
              </a:defRPr>
            </a:pPr>
            <a:r>
              <a:t>Multi-state, VPP</a:t>
            </a:r>
            <a:br/>
            <a:r>
              <a:t>EV fleet, interstate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698480" y="4572000"/>
            <a:ext cx="96012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Scale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46320" y="51206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GROWTH STRATEGY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846320" y="5349240"/>
            <a:ext cx="6858000" cy="1097280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9200" y="5440680"/>
            <a:ext cx="6492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F59E0B"/>
                </a:solidFill>
                <a:latin typeface="Segoe UI"/>
              </a:defRPr>
            </a:pPr>
            <a:r>
              <a:t>Yr 1: Validate in 5 societies (product-market fit)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38BDF8"/>
                </a:solidFill>
                <a:latin typeface="Segoe UI"/>
              </a:defRPr>
            </a:pPr>
            <a:r>
              <a:t>Yr 2: 50-100 societies (scale + SaaS + carbon revenue)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2C55E"/>
                </a:solidFill>
                <a:latin typeface="Segoe UI"/>
              </a:defRPr>
            </a:pPr>
            <a:r>
              <a:t>Yr 3: 500+ societies (multi-state as more states approve P2P)</a:t>
            </a:r>
          </a:p>
          <a:p>
            <a:pPr algn="l">
              <a:spcAft>
                <a:spcPts val="200"/>
              </a:spcAft>
              <a:defRPr sz="1000" b="1">
                <a:solidFill>
                  <a:srgbClr val="14B8A6"/>
                </a:solidFill>
                <a:latin typeface="Segoe UI"/>
              </a:defRPr>
            </a:pPr>
            <a:r>
              <a:t>Yr 5: National platform, 5K+ societies, Rs.10Cr+ revenue potential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060"/>
                </a:solidFill>
                <a:latin typeface="Segoe UI"/>
              </a:defRPr>
            </a:pPr>
            <a: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SOLARSHARE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783080"/>
            <a:ext cx="24688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0E0E8"/>
                </a:solidFill>
                <a:latin typeface="Segoe UI"/>
              </a:defRPr>
            </a:pPr>
            <a:r>
              <a:t>Making every rooftop a power station.</a:t>
            </a:r>
            <a:br/>
            <a:r>
              <a:t>Making every neighbor a customer.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00400"/>
            <a:ext cx="2697480" cy="2377440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26974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Real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2423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90"/>
                </a:solidFill>
                <a:latin typeface="Segoe UI"/>
              </a:defRPr>
            </a:pPr>
            <a:r>
              <a:t>12L households earn from</a:t>
            </a:r>
            <a:br/>
            <a:r>
              <a:t>surplus but at unfair rates.</a:t>
            </a:r>
            <a:br/>
            <a:r>
              <a:t>50L+ solar homes and</a:t>
            </a:r>
            <a:br/>
            <a:r>
              <a:t>growing 3L+/month.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200400"/>
            <a:ext cx="2697480" cy="2377440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3200400"/>
            <a:ext cx="26974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33375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Real 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703320"/>
            <a:ext cx="2423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90"/>
                </a:solidFill>
                <a:latin typeface="Segoe UI"/>
              </a:defRPr>
            </a:pPr>
            <a:r>
              <a:t>IES, Beckn, DERC pilot,</a:t>
            </a:r>
            <a:br/>
            <a:r>
              <a:t>7.24Cr smart meters --</a:t>
            </a:r>
            <a:br/>
            <a:r>
              <a:t>all live, all government-</a:t>
            </a:r>
            <a:br/>
            <a:r>
              <a:t>backed, all verified.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3200400"/>
            <a:ext cx="2697480" cy="2377440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3200400"/>
            <a:ext cx="26974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19" y="33375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Real Innovation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19" y="3703320"/>
            <a:ext cx="2423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90"/>
                </a:solidFill>
                <a:latin typeface="Segoe UI"/>
              </a:defRPr>
            </a:pPr>
            <a:r>
              <a:t>Housing-society niche,</a:t>
            </a:r>
            <a:br/>
            <a:r>
              <a:t>graph engineering matching,</a:t>
            </a:r>
            <a:br/>
            <a:r>
              <a:t>EV charging extension,</a:t>
            </a:r>
            <a:br/>
            <a:r>
              <a:t>DISCOM defense strategy.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19" y="3200400"/>
            <a:ext cx="2697480" cy="2377440"/>
          </a:xfrm>
          <a:prstGeom prst="roundRect">
            <a:avLst/>
          </a:prstGeom>
          <a:solidFill>
            <a:srgbClr val="2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19" y="3200400"/>
            <a:ext cx="269748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79" y="33375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B8A6"/>
                </a:solidFill>
                <a:latin typeface="Segoe UI"/>
              </a:defRPr>
            </a:pPr>
            <a:r>
              <a:t>Real Business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79" y="3703320"/>
            <a:ext cx="2423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90"/>
                </a:solidFill>
                <a:latin typeface="Segoe UI"/>
              </a:defRPr>
            </a:pPr>
            <a:r>
              <a:t>5 revenue streams, 95%+</a:t>
            </a:r>
            <a:br/>
            <a:r>
              <a:t>gross margin, Rs.0 MVP,</a:t>
            </a:r>
            <a:br/>
            <a:r>
              <a:t>breakeven at 5 societies,</a:t>
            </a:r>
            <a:br/>
            <a:r>
              <a:t>Rs.10Cr+ potential.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5943600"/>
            <a:ext cx="12191695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6080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Thank You  |  Let's Power India's Energy Future Together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05060"/>
                </a:solidFill>
                <a:latin typeface="Segoe UI"/>
              </a:defRPr>
            </a:pPr>
            <a:r>
              <a:t>Problem (10) + Innovation (15) + Feasibility (10) + Impact (10) + USP (15) + Revenue (25) + Presentation (15) = 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060"/>
                </a:solidFill>
                <a:latin typeface="Segoe UI"/>
              </a:defRPr>
            </a:pPr>
            <a: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